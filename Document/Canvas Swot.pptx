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6" r:id="rId3"/>
  </p:sldIdLst>
  <p:sldSz cx="15113000" cy="21374100"/>
  <p:notesSz cx="6797675" cy="9926638"/>
  <p:embeddedFontLst>
    <p:embeddedFont>
      <p:font typeface="Open Sans" panose="020B0606030504020204" pitchFamily="34" charset="0"/>
      <p:regular r:id="rId4"/>
      <p:bold r:id="rId5"/>
      <p:italic r:id="rId6"/>
      <p:boldItalic r:id="rId7"/>
    </p:embeddedFont>
    <p:embeddedFont>
      <p:font typeface="Open Sans Bold" panose="020B0806030504020204" charset="0"/>
      <p:regular r:id="rId8"/>
    </p:embeddedFont>
    <p:embeddedFont>
      <p:font typeface="Open Sans Light" panose="020B0306030504020204" pitchFamily="34" charset="0"/>
      <p:regular r:id="rId9"/>
      <p: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IA TEREZA DE FREITAS" initials="MTDF" lastIdx="1" clrIdx="0">
    <p:extLst>
      <p:ext uri="{19B8F6BF-5375-455C-9EA6-DF929625EA0E}">
        <p15:presenceInfo xmlns:p15="http://schemas.microsoft.com/office/powerpoint/2012/main" userId="8f43bc7f26f1c7a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691" y="-1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commentAuthors" Target="commentAuthors.xml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219095" y="20974050"/>
            <a:ext cx="14607429" cy="0"/>
          </a:xfrm>
          <a:prstGeom prst="line">
            <a:avLst/>
          </a:prstGeom>
          <a:ln w="19050" cap="rnd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3" name="AutoShape 13"/>
          <p:cNvSpPr/>
          <p:nvPr/>
        </p:nvSpPr>
        <p:spPr>
          <a:xfrm>
            <a:off x="7820813" y="0"/>
            <a:ext cx="7299210" cy="0"/>
          </a:xfrm>
          <a:prstGeom prst="line">
            <a:avLst/>
          </a:prstGeom>
          <a:ln w="47625" cap="rnd">
            <a:solidFill>
              <a:srgbClr val="A500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Box 16"/>
          <p:cNvSpPr txBox="1"/>
          <p:nvPr/>
        </p:nvSpPr>
        <p:spPr>
          <a:xfrm>
            <a:off x="3136900" y="2308930"/>
            <a:ext cx="9306489" cy="106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5"/>
              </a:lnSpc>
            </a:pPr>
            <a:r>
              <a:rPr lang="pt-BR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ALUNOS:________________________________________________________________</a:t>
            </a:r>
            <a:endParaRPr lang="pt-BR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075"/>
              </a:lnSpc>
            </a:pPr>
            <a:r>
              <a:rPr lang="pt-BR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PROFESSOR:_____________________________________________________________</a:t>
            </a:r>
          </a:p>
          <a:p>
            <a:pPr>
              <a:lnSpc>
                <a:spcPts val="2075"/>
              </a:lnSpc>
            </a:pPr>
            <a:r>
              <a:rPr lang="pt-BR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Mentor:__________________________________________________________________</a:t>
            </a:r>
            <a:endParaRPr lang="pt-BR" sz="18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ts val="2075"/>
              </a:lnSpc>
            </a:pPr>
            <a:endParaRPr lang="en-US" sz="1600" dirty="0">
              <a:solidFill>
                <a:srgbClr val="280B0B"/>
              </a:solidFill>
              <a:latin typeface="Open Sans Ligh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817030" y="1094542"/>
            <a:ext cx="10498453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2200" b="1" dirty="0">
                <a:solidFill>
                  <a:srgbClr val="280A0A"/>
                </a:solidFill>
                <a:latin typeface="Arial" panose="020B0604020202020204" pitchFamily="34" charset="0"/>
              </a:rPr>
              <a:t>TÍTULO:___________________________________________________________</a:t>
            </a:r>
          </a:p>
          <a:p>
            <a:r>
              <a:rPr lang="pt-BR" sz="2200" b="1" dirty="0">
                <a:solidFill>
                  <a:srgbClr val="280A0A"/>
                </a:solidFill>
                <a:latin typeface="Arial" panose="020B0604020202020204" pitchFamily="34" charset="0"/>
              </a:rPr>
              <a:t>TEMA NORTEADOR:________________________________________________</a:t>
            </a:r>
          </a:p>
          <a:p>
            <a:r>
              <a:rPr lang="pt-BR" sz="2200" b="1" dirty="0">
                <a:solidFill>
                  <a:srgbClr val="280A0A"/>
                </a:solidFill>
                <a:latin typeface="Arial" panose="020B0604020202020204" pitchFamily="34" charset="0"/>
              </a:rPr>
              <a:t>ODS:_____________________________________________________________ </a:t>
            </a:r>
            <a:endParaRPr lang="en-US" sz="2200" dirty="0">
              <a:solidFill>
                <a:srgbClr val="280A0A"/>
              </a:solidFill>
              <a:latin typeface="Open Sans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26043" y="3681764"/>
            <a:ext cx="6673246" cy="528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400" dirty="0">
                <a:solidFill>
                  <a:srgbClr val="FFFFFF"/>
                </a:solidFill>
                <a:latin typeface="Open Sans"/>
              </a:rPr>
              <a:t>P</a:t>
            </a:r>
            <a:r>
              <a:rPr lang="en-US" sz="2400" dirty="0">
                <a:latin typeface="Open Sans"/>
              </a:rPr>
              <a:t>PROBLEMA </a:t>
            </a:r>
            <a:r>
              <a:rPr lang="en-US" dirty="0">
                <a:latin typeface="Open Sans"/>
              </a:rPr>
              <a:t>(PROBLEMAS QUE SERÃO RESOLVIDOS, DEMANDAS QUE SERÃO ATINGIDAS)</a:t>
            </a:r>
            <a:r>
              <a:rPr lang="en-US" sz="2400" dirty="0">
                <a:solidFill>
                  <a:srgbClr val="FFFFFF"/>
                </a:solidFill>
                <a:latin typeface="Open Sans"/>
              </a:rPr>
              <a:t>BLEMA</a:t>
            </a:r>
            <a:endParaRPr lang="en-US" sz="2800" dirty="0">
              <a:solidFill>
                <a:srgbClr val="FFFFFF"/>
              </a:solidFill>
              <a:latin typeface="Open Sans"/>
            </a:endParaRPr>
          </a:p>
        </p:txBody>
      </p:sp>
      <p:pic>
        <p:nvPicPr>
          <p:cNvPr id="1026" name="Picture 2" descr="Identidade Visual da Marca | Unisales">
            <a:extLst>
              <a:ext uri="{FF2B5EF4-FFF2-40B4-BE49-F238E27FC236}">
                <a16:creationId xmlns:a16="http://schemas.microsoft.com/office/drawing/2014/main" id="{C99C5A37-0D09-47AE-9860-E296CB1C0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14" y="345851"/>
            <a:ext cx="2347029" cy="136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TextBox 18">
            <a:extLst>
              <a:ext uri="{FF2B5EF4-FFF2-40B4-BE49-F238E27FC236}">
                <a16:creationId xmlns:a16="http://schemas.microsoft.com/office/drawing/2014/main" id="{E3BAF100-22A6-41D5-8C62-8263218AABDD}"/>
              </a:ext>
            </a:extLst>
          </p:cNvPr>
          <p:cNvSpPr txBox="1"/>
          <p:nvPr/>
        </p:nvSpPr>
        <p:spPr>
          <a:xfrm>
            <a:off x="2681250" y="256342"/>
            <a:ext cx="10498453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2200" b="1" dirty="0">
                <a:latin typeface="Arial" panose="020B0604020202020204" pitchFamily="34" charset="0"/>
                <a:ea typeface="Calibri" panose="020F0502020204030204" pitchFamily="34" charset="0"/>
              </a:rPr>
              <a:t>PROJETO INTEGRADOR DE EXTENSÃO</a:t>
            </a:r>
          </a:p>
          <a:p>
            <a:pPr algn="ctr"/>
            <a:r>
              <a:rPr lang="pt-BR" sz="2200" b="1" dirty="0">
                <a:latin typeface="Arial" panose="020B0604020202020204" pitchFamily="34" charset="0"/>
              </a:rPr>
              <a:t>FORMULÁRIO DE PLANEJAMENTO ESTRATÉGICO DO PIE - </a:t>
            </a:r>
            <a:r>
              <a:rPr lang="pt-BR" sz="2200" b="1" dirty="0">
                <a:latin typeface="Arial" panose="020B0604020202020204" pitchFamily="34" charset="0"/>
                <a:ea typeface="Calibri" panose="020F0502020204030204" pitchFamily="34" charset="0"/>
              </a:rPr>
              <a:t>CANVAS</a:t>
            </a:r>
            <a:endParaRPr lang="pt-BR" sz="2200" b="1" dirty="0">
              <a:latin typeface="Arial" panose="020B0604020202020204" pitchFamily="34" charset="0"/>
            </a:endParaRPr>
          </a:p>
          <a:p>
            <a:pPr algn="ctr"/>
            <a:r>
              <a:rPr lang="pt-BR" sz="2200" b="1" dirty="0">
                <a:latin typeface="Arial" panose="020B0604020202020204" pitchFamily="34" charset="0"/>
                <a:ea typeface="Calibri" panose="020F0502020204030204" pitchFamily="34" charset="0"/>
              </a:rPr>
              <a:t>CURSO _________________</a:t>
            </a:r>
            <a:endParaRPr lang="pt-BR" sz="2200" b="1" dirty="0">
              <a:effectLst/>
              <a:highlight>
                <a:srgbClr val="FFFF00"/>
              </a:highlight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D681E961-1A23-05A3-CEA9-72CCD7841162}"/>
              </a:ext>
            </a:extLst>
          </p:cNvPr>
          <p:cNvSpPr txBox="1"/>
          <p:nvPr/>
        </p:nvSpPr>
        <p:spPr>
          <a:xfrm>
            <a:off x="730854" y="9264803"/>
            <a:ext cx="6673246" cy="1041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400" dirty="0">
                <a:solidFill>
                  <a:srgbClr val="FFFFFF"/>
                </a:solidFill>
                <a:latin typeface="Open Sans"/>
              </a:rPr>
              <a:t>P</a:t>
            </a:r>
            <a:r>
              <a:rPr lang="en-US" sz="2400" dirty="0">
                <a:latin typeface="Open Sans"/>
              </a:rPr>
              <a:t>PARCEIROS </a:t>
            </a:r>
            <a:r>
              <a:rPr lang="en-US" dirty="0">
                <a:latin typeface="Open Sans"/>
              </a:rPr>
              <a:t>(COMUNIDADE, EMPRESA, ESCOLA ONDE A ATIVIDADE SERÁ DESENVOLVIDA; MENTOR, CURSO DE GRADUAÇÃO, TURMA OU GRUPO QUE DESENVOLVERÁ A ATIVIDADE EM PARCERIA)</a:t>
            </a:r>
            <a:r>
              <a:rPr lang="en-US" sz="2400" dirty="0">
                <a:latin typeface="Open Sans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Open Sans"/>
              </a:rPr>
              <a:t>LEMA</a:t>
            </a:r>
            <a:endParaRPr lang="en-US" sz="2800" dirty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2FB526DD-7F80-BE0A-4E35-895BA746ACBD}"/>
              </a:ext>
            </a:extLst>
          </p:cNvPr>
          <p:cNvSpPr txBox="1"/>
          <p:nvPr/>
        </p:nvSpPr>
        <p:spPr>
          <a:xfrm>
            <a:off x="451500" y="15335250"/>
            <a:ext cx="6673246" cy="784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400" dirty="0">
                <a:solidFill>
                  <a:srgbClr val="FFFFFF"/>
                </a:solidFill>
                <a:latin typeface="Open Sans"/>
              </a:rPr>
              <a:t>P</a:t>
            </a:r>
            <a:r>
              <a:rPr lang="en-US" sz="2400" dirty="0">
                <a:latin typeface="Open Sans"/>
              </a:rPr>
              <a:t>SOLUÇÃO </a:t>
            </a:r>
            <a:r>
              <a:rPr lang="en-US" dirty="0">
                <a:latin typeface="Open Sans"/>
              </a:rPr>
              <a:t>(ATIVIDADES QUE SERÃO DESENVOLVIDAS PARA A RESOLUÇÃO DO PROBLEMA, PRODUTOS QUE SERÃO DESENVOLVIDOS)</a:t>
            </a:r>
            <a:r>
              <a:rPr lang="en-US" sz="2400" dirty="0">
                <a:latin typeface="Open Sans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Open Sans"/>
              </a:rPr>
              <a:t>LEMA</a:t>
            </a:r>
            <a:endParaRPr lang="en-US" sz="2800" dirty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3" name="TextBox 23">
            <a:extLst>
              <a:ext uri="{FF2B5EF4-FFF2-40B4-BE49-F238E27FC236}">
                <a16:creationId xmlns:a16="http://schemas.microsoft.com/office/drawing/2014/main" id="{3E1E3F22-3199-62FC-6E33-E160B200C89A}"/>
              </a:ext>
            </a:extLst>
          </p:cNvPr>
          <p:cNvSpPr txBox="1"/>
          <p:nvPr/>
        </p:nvSpPr>
        <p:spPr>
          <a:xfrm>
            <a:off x="7699330" y="3281013"/>
            <a:ext cx="6673246" cy="929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2400" dirty="0">
                <a:solidFill>
                  <a:srgbClr val="FFFFFF"/>
                </a:solidFill>
                <a:latin typeface="Open Sans"/>
              </a:rPr>
              <a:t>P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MÉTRICAS CHAVE </a:t>
            </a:r>
            <a:r>
              <a:rPr lang="en-US" dirty="0">
                <a:latin typeface="Open Sans"/>
              </a:rPr>
              <a:t>(FORMAS DE AVALIAR OS IMPACTOS DO PROJETO E AS METAS A SEREM ATINGIDAS)</a:t>
            </a:r>
          </a:p>
          <a:p>
            <a:pPr algn="ctr">
              <a:lnSpc>
                <a:spcPts val="1500"/>
              </a:lnSpc>
            </a:pPr>
            <a:r>
              <a:rPr lang="en-US" sz="2400" dirty="0">
                <a:latin typeface="Open Sans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Open Sans"/>
              </a:rPr>
              <a:t>LEMA</a:t>
            </a:r>
            <a:endParaRPr lang="en-US" sz="2800" dirty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4" name="TextBox 23">
            <a:extLst>
              <a:ext uri="{FF2B5EF4-FFF2-40B4-BE49-F238E27FC236}">
                <a16:creationId xmlns:a16="http://schemas.microsoft.com/office/drawing/2014/main" id="{E538761B-CEB1-B969-9C1B-2CAEF06BAE0E}"/>
              </a:ext>
            </a:extLst>
          </p:cNvPr>
          <p:cNvSpPr txBox="1"/>
          <p:nvPr/>
        </p:nvSpPr>
        <p:spPr>
          <a:xfrm>
            <a:off x="7893654" y="8883803"/>
            <a:ext cx="6673246" cy="1041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400" dirty="0">
                <a:solidFill>
                  <a:srgbClr val="FFFFFF"/>
                </a:solidFill>
                <a:latin typeface="Open Sans"/>
              </a:rPr>
              <a:t>PR</a:t>
            </a:r>
            <a:r>
              <a:rPr lang="en-US" sz="2400" dirty="0">
                <a:latin typeface="Open Sans"/>
              </a:rPr>
              <a:t>RECURSOS CHAVE </a:t>
            </a:r>
            <a:r>
              <a:rPr lang="en-US" dirty="0">
                <a:latin typeface="Open Sans"/>
              </a:rPr>
              <a:t>(RECURSOS NECESSÁRIOS PARA O DESENVOLVIMENTO DO PROJETO E RESPONSÁVEIS POR TAIS RECURSOS. AVALIAR A VIABILIDADE DAS ATIVIDADES PROPOSTAS)</a:t>
            </a:r>
            <a:r>
              <a:rPr lang="en-US" sz="2400" dirty="0">
                <a:latin typeface="Open Sans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Open Sans"/>
              </a:rPr>
              <a:t>LEMA</a:t>
            </a:r>
            <a:endParaRPr lang="en-US" sz="2800" dirty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4" name="TextBox 23">
            <a:extLst>
              <a:ext uri="{FF2B5EF4-FFF2-40B4-BE49-F238E27FC236}">
                <a16:creationId xmlns:a16="http://schemas.microsoft.com/office/drawing/2014/main" id="{A2CA188B-FA6C-B810-5C7A-D1E746C9E4C2}"/>
              </a:ext>
            </a:extLst>
          </p:cNvPr>
          <p:cNvSpPr txBox="1"/>
          <p:nvPr/>
        </p:nvSpPr>
        <p:spPr>
          <a:xfrm>
            <a:off x="7699330" y="14847842"/>
            <a:ext cx="6673246" cy="1554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400" dirty="0">
                <a:solidFill>
                  <a:srgbClr val="FFFFFF"/>
                </a:solidFill>
                <a:latin typeface="Open Sans"/>
              </a:rPr>
              <a:t>PR</a:t>
            </a:r>
            <a:r>
              <a:rPr lang="en-US" sz="2400" dirty="0">
                <a:latin typeface="Open Sans"/>
              </a:rPr>
              <a:t>RELACIONAMENTO COM O PÚBLICO ALVO/CLIENTE </a:t>
            </a:r>
            <a:r>
              <a:rPr lang="en-US" dirty="0">
                <a:latin typeface="Open Sans"/>
              </a:rPr>
              <a:t>(COMO OCORRERÁ A MOBILIZAÇÃO DA POPULAÇÃO/PÚBLICO ALVO. COMO ACESSARÁ O CLIENTE. QUE TIPO DE RELACIONAMENTO O CLIENTE/POPULAÇÃO ESPERA. QUAL RELACIONAMENTO JÁ ESTÁ ESTABELECIDO)</a:t>
            </a:r>
            <a:r>
              <a:rPr lang="en-US" sz="2400" dirty="0">
                <a:latin typeface="Open Sans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Open Sans"/>
              </a:rPr>
              <a:t>LEMA</a:t>
            </a:r>
            <a:endParaRPr lang="en-US" sz="2800" dirty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7B7AFF50-242F-FCC7-A2B5-71B0B6CE0D42}"/>
              </a:ext>
            </a:extLst>
          </p:cNvPr>
          <p:cNvSpPr txBox="1"/>
          <p:nvPr/>
        </p:nvSpPr>
        <p:spPr>
          <a:xfrm>
            <a:off x="7841534" y="16172736"/>
            <a:ext cx="6787850" cy="4801314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4CBB2B08-B5B1-B381-AE35-3D7101405C51}"/>
              </a:ext>
            </a:extLst>
          </p:cNvPr>
          <p:cNvSpPr txBox="1"/>
          <p:nvPr/>
        </p:nvSpPr>
        <p:spPr>
          <a:xfrm>
            <a:off x="7833149" y="9894129"/>
            <a:ext cx="6787850" cy="4801314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CE886B08-8858-558B-2323-AD32FF43818E}"/>
              </a:ext>
            </a:extLst>
          </p:cNvPr>
          <p:cNvSpPr txBox="1"/>
          <p:nvPr/>
        </p:nvSpPr>
        <p:spPr>
          <a:xfrm>
            <a:off x="487460" y="16137060"/>
            <a:ext cx="6787850" cy="4801314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994103A0-A50F-1849-B2B6-83D1BCF01629}"/>
              </a:ext>
            </a:extLst>
          </p:cNvPr>
          <p:cNvSpPr txBox="1"/>
          <p:nvPr/>
        </p:nvSpPr>
        <p:spPr>
          <a:xfrm>
            <a:off x="487460" y="10385082"/>
            <a:ext cx="6787850" cy="4801314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5A66F8B8-E34F-577D-F2C1-596D219C6B7A}"/>
              </a:ext>
            </a:extLst>
          </p:cNvPr>
          <p:cNvSpPr txBox="1"/>
          <p:nvPr/>
        </p:nvSpPr>
        <p:spPr>
          <a:xfrm>
            <a:off x="7706243" y="4015219"/>
            <a:ext cx="6787850" cy="4801314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E4DBD1C6-7EA9-0F99-2BB1-33F2B85FBF28}"/>
              </a:ext>
            </a:extLst>
          </p:cNvPr>
          <p:cNvSpPr txBox="1"/>
          <p:nvPr/>
        </p:nvSpPr>
        <p:spPr>
          <a:xfrm>
            <a:off x="514215" y="4201383"/>
            <a:ext cx="6787850" cy="4524315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Controle de frequência docente realizado por planilhas e assinaturas manuais.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Demora na coleta, digitação, conferência e correção dos registros.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Possibilidade de erros e inconsistências nos registros de frequência.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Consumo de papel e toner.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Necessidade de maior segurança e rastreabilidade dos registros.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Dificuldade de integração e geração de relatórios.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Necessidade de proteção adequada dos dados biométricos.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CCFED0B-3F99-960C-3285-5ACEA0799F16}"/>
              </a:ext>
            </a:extLst>
          </p:cNvPr>
          <p:cNvSpPr txBox="1"/>
          <p:nvPr/>
        </p:nvSpPr>
        <p:spPr>
          <a:xfrm>
            <a:off x="7790144" y="4077480"/>
            <a:ext cx="65824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Taxa de reconhecimento biométrico </a:t>
            </a:r>
            <a:r>
              <a:rPr lang="pt-BR" b="1" dirty="0"/>
              <a:t>≥ 95%</a:t>
            </a:r>
            <a:r>
              <a:rPr lang="pt-BR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Tempo médio de autenticação </a:t>
            </a:r>
            <a:r>
              <a:rPr lang="pt-BR" b="1" dirty="0"/>
              <a:t>≤ 3 segundos</a:t>
            </a:r>
            <a:r>
              <a:rPr lang="pt-BR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Taxa de falsa aceitação (FAR) </a:t>
            </a:r>
            <a:r>
              <a:rPr lang="pt-BR" b="1" dirty="0"/>
              <a:t>≤ 0,01%</a:t>
            </a:r>
            <a:r>
              <a:rPr lang="pt-BR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Taxa de falsa rejeição (FRR) </a:t>
            </a:r>
            <a:r>
              <a:rPr lang="pt-BR" b="1" dirty="0"/>
              <a:t>≤ 3%</a:t>
            </a:r>
            <a:r>
              <a:rPr lang="pt-BR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Disponibilidade do sistema </a:t>
            </a:r>
            <a:r>
              <a:rPr lang="pt-BR" b="1" dirty="0"/>
              <a:t>≥ 99%</a:t>
            </a:r>
            <a:r>
              <a:rPr lang="pt-BR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Redução de </a:t>
            </a:r>
            <a:r>
              <a:rPr lang="pt-BR" b="1" dirty="0"/>
              <a:t>≥ 80%</a:t>
            </a:r>
            <a:r>
              <a:rPr lang="pt-BR" dirty="0"/>
              <a:t> no tempo de processamento dos registros.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Redução de </a:t>
            </a:r>
            <a:r>
              <a:rPr lang="pt-BR" b="1" dirty="0"/>
              <a:t>≥ 90%</a:t>
            </a:r>
            <a:r>
              <a:rPr lang="pt-BR" dirty="0"/>
              <a:t> nas inconsistências e erros de registro.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Redução de </a:t>
            </a:r>
            <a:r>
              <a:rPr lang="pt-BR" b="1" dirty="0"/>
              <a:t>≥ 70%</a:t>
            </a:r>
            <a:r>
              <a:rPr lang="pt-BR" dirty="0"/>
              <a:t> do tempo administrativo destinado ao controle de frequência.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Satisfação dos usuários </a:t>
            </a:r>
            <a:r>
              <a:rPr lang="pt-BR" b="1" dirty="0"/>
              <a:t>≥ 4,0/5</a:t>
            </a:r>
            <a:r>
              <a:rPr lang="pt-BR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Custo por unidade </a:t>
            </a:r>
            <a:r>
              <a:rPr lang="pt-BR" b="1" dirty="0"/>
              <a:t>≤ R$ 700,00</a:t>
            </a:r>
            <a:r>
              <a:rPr lang="pt-BR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Mínimo de </a:t>
            </a:r>
            <a:r>
              <a:rPr lang="pt-BR" b="1" dirty="0"/>
              <a:t>500 registros de ponto</a:t>
            </a:r>
            <a:r>
              <a:rPr lang="pt-BR" dirty="0"/>
              <a:t> durante os testes.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A7F336-C311-05DB-830C-761DB4BA18E6}"/>
              </a:ext>
            </a:extLst>
          </p:cNvPr>
          <p:cNvSpPr txBox="1"/>
          <p:nvPr/>
        </p:nvSpPr>
        <p:spPr>
          <a:xfrm>
            <a:off x="514376" y="10485936"/>
            <a:ext cx="65849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b="1" dirty="0" err="1"/>
              <a:t>UniSales</a:t>
            </a:r>
            <a:r>
              <a:rPr lang="pt-BR" dirty="0"/>
              <a:t> – instituição de desenvolvimento e possível aplicação da solução.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b="1" dirty="0"/>
              <a:t>Docentes voluntários</a:t>
            </a:r>
            <a:r>
              <a:rPr lang="pt-BR" dirty="0"/>
              <a:t> – participantes do piloto e validação do sistema.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b="1" dirty="0"/>
              <a:t>Setores administrativos e acadêmicos</a:t>
            </a:r>
            <a:r>
              <a:rPr lang="pt-BR" dirty="0"/>
              <a:t> – apoio à identificação das necessidades e avaliação da solução.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b="1" dirty="0"/>
              <a:t>Fornecedores de componentes eletrônicos</a:t>
            </a:r>
            <a:r>
              <a:rPr lang="pt-BR" dirty="0"/>
              <a:t> – fornecimento de </a:t>
            </a:r>
            <a:r>
              <a:rPr lang="pt-BR" dirty="0" err="1"/>
              <a:t>Raspberry</a:t>
            </a:r>
            <a:r>
              <a:rPr lang="pt-BR" dirty="0"/>
              <a:t> Pi, sensores e demais componentes.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b="1" dirty="0"/>
              <a:t>Equipe de desenvolvimento</a:t>
            </a:r>
            <a:r>
              <a:rPr lang="pt-BR" dirty="0"/>
              <a:t> – desenvolvimento do hardware e software.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b="1" dirty="0"/>
              <a:t>Pesquisadores e comunidade acadêmica</a:t>
            </a:r>
            <a:r>
              <a:rPr lang="pt-BR" dirty="0"/>
              <a:t> – apoio à pesquisa, validação e produção científica.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b="1" dirty="0"/>
              <a:t>Potenciais parceiros e investidores</a:t>
            </a:r>
            <a:r>
              <a:rPr lang="pt-BR" dirty="0"/>
              <a:t> – possibilidade de expansão futura da solução.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E747C28-F438-2EBD-1059-A2974BAFDDFF}"/>
              </a:ext>
            </a:extLst>
          </p:cNvPr>
          <p:cNvSpPr txBox="1"/>
          <p:nvPr/>
        </p:nvSpPr>
        <p:spPr>
          <a:xfrm>
            <a:off x="7930477" y="9998103"/>
            <a:ext cx="35122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BR" b="1" dirty="0"/>
              <a:t>Recursos tecnológicos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 err="1"/>
              <a:t>Raspberry</a:t>
            </a:r>
            <a:r>
              <a:rPr lang="pt-BR" dirty="0"/>
              <a:t> Pi 4/5.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Sensor biométrico AS608 ou R307.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Display LCD touchscreen.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Câmera.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Cartão </a:t>
            </a:r>
            <a:r>
              <a:rPr lang="pt-BR" dirty="0" err="1"/>
              <a:t>microSD</a:t>
            </a:r>
            <a:r>
              <a:rPr lang="pt-BR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Fonte de alimentação.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Gabinete.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Banco de dados local.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Sistema web de gestão.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62A9DCB-CCA1-2D41-0D37-E7BCD5A1F689}"/>
              </a:ext>
            </a:extLst>
          </p:cNvPr>
          <p:cNvSpPr txBox="1"/>
          <p:nvPr/>
        </p:nvSpPr>
        <p:spPr>
          <a:xfrm>
            <a:off x="7841534" y="16247231"/>
            <a:ext cx="672536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Realização de cadastro e treinamento dos docentes.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Implantação piloto do equipamento em ambiente educacional.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Disponibilização de interface simples para registro da frequência.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Disponibilização de relatórios para gestores.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Coleta de feedback por questionários e entrevistas.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Suporte e orientação aos usuários.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Disponibilização de manual do usuário.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Disponibilização de documentação técnica para manutenção.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Atendimento às solicitações relacionadas à privacidade e proteção dos dados.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Avaliação contínua da experiência dos usuários.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F3519FE-FFE9-B265-DDE2-5FC6F3FE5D4D}"/>
              </a:ext>
            </a:extLst>
          </p:cNvPr>
          <p:cNvSpPr txBox="1"/>
          <p:nvPr/>
        </p:nvSpPr>
        <p:spPr>
          <a:xfrm>
            <a:off x="546100" y="16187282"/>
            <a:ext cx="65786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Cadastro dos docentes e suas digitais.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Consentimento para tratamento dos dados.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Criptografia dos </a:t>
            </a:r>
            <a:r>
              <a:rPr lang="pt-BR" dirty="0" err="1"/>
              <a:t>templates</a:t>
            </a:r>
            <a:r>
              <a:rPr lang="pt-BR" dirty="0"/>
              <a:t> biométricos.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Autenticação por impressão digital.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Registro automático de entrada e saída.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Registro de data e horário.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Logs de auditoria.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Interface web administrativa.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Dashboard com estatísticas.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Consulta dos registros.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Geração de relatórios.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Exportação em CSV e PDF.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Recursos relacionados aos direitos previstos pela LGPD.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Integração com sistemas de gestão educacional.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99C8F51-9134-FF10-E708-8A7C7A4604A2}"/>
              </a:ext>
            </a:extLst>
          </p:cNvPr>
          <p:cNvSpPr txBox="1"/>
          <p:nvPr/>
        </p:nvSpPr>
        <p:spPr>
          <a:xfrm>
            <a:off x="11100168" y="9947328"/>
            <a:ext cx="300953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Recursos de software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Python.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Bibliotecas de biometria.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Criptografia AES-256.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HTTPS.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Sistema de autenticação e logs de auditoria.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71AE10D-EA91-B3D6-A043-82DA5E54F3D2}"/>
              </a:ext>
            </a:extLst>
          </p:cNvPr>
          <p:cNvSpPr txBox="1"/>
          <p:nvPr/>
        </p:nvSpPr>
        <p:spPr>
          <a:xfrm>
            <a:off x="7930476" y="13081551"/>
            <a:ext cx="66364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Recursos humanos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Estudantes desenvolvedores.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Professor/mentor.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Docentes participantes do piloto.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Responsáveis pela gestão e avaliação do projeto.</a:t>
            </a:r>
          </a:p>
        </p:txBody>
      </p:sp>
    </p:spTree>
    <p:extLst>
      <p:ext uri="{BB962C8B-B14F-4D97-AF65-F5344CB8AC3E}">
        <p14:creationId xmlns:p14="http://schemas.microsoft.com/office/powerpoint/2010/main" val="4007310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 flipV="1">
            <a:off x="-8565677" y="11874953"/>
            <a:ext cx="17527191" cy="61404"/>
          </a:xfrm>
          <a:prstGeom prst="line">
            <a:avLst/>
          </a:prstGeom>
          <a:ln w="19050" cap="rnd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 rot="-5400000" flipV="1">
            <a:off x="5876103" y="12082957"/>
            <a:ext cx="17908189" cy="26396"/>
          </a:xfrm>
          <a:prstGeom prst="line">
            <a:avLst/>
          </a:prstGeom>
          <a:ln w="19050" cap="rnd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>
            <a:off x="219095" y="20974050"/>
            <a:ext cx="14607429" cy="0"/>
          </a:xfrm>
          <a:prstGeom prst="line">
            <a:avLst/>
          </a:prstGeom>
          <a:ln w="19050" cap="rnd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3" name="AutoShape 13"/>
          <p:cNvSpPr/>
          <p:nvPr/>
        </p:nvSpPr>
        <p:spPr>
          <a:xfrm>
            <a:off x="7820813" y="0"/>
            <a:ext cx="7299210" cy="0"/>
          </a:xfrm>
          <a:prstGeom prst="line">
            <a:avLst/>
          </a:prstGeom>
          <a:ln w="47625" cap="rnd">
            <a:solidFill>
              <a:srgbClr val="A500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pic>
        <p:nvPicPr>
          <p:cNvPr id="1026" name="Picture 2" descr="Identidade Visual da Marca | Unisales">
            <a:extLst>
              <a:ext uri="{FF2B5EF4-FFF2-40B4-BE49-F238E27FC236}">
                <a16:creationId xmlns:a16="http://schemas.microsoft.com/office/drawing/2014/main" id="{C99C5A37-0D09-47AE-9860-E296CB1C0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7298" y="227878"/>
            <a:ext cx="2347029" cy="136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23">
            <a:extLst>
              <a:ext uri="{FF2B5EF4-FFF2-40B4-BE49-F238E27FC236}">
                <a16:creationId xmlns:a16="http://schemas.microsoft.com/office/drawing/2014/main" id="{D681E961-1A23-05A3-CEA9-72CCD7841162}"/>
              </a:ext>
            </a:extLst>
          </p:cNvPr>
          <p:cNvSpPr txBox="1"/>
          <p:nvPr/>
        </p:nvSpPr>
        <p:spPr>
          <a:xfrm>
            <a:off x="6890354" y="1788355"/>
            <a:ext cx="2171425" cy="1311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endParaRPr lang="en-US" sz="2800" dirty="0">
              <a:latin typeface="Open Sans"/>
            </a:endParaRPr>
          </a:p>
          <a:p>
            <a:pPr algn="ctr">
              <a:lnSpc>
                <a:spcPts val="2000"/>
              </a:lnSpc>
            </a:pPr>
            <a:endParaRPr lang="en-US" sz="4000" dirty="0">
              <a:latin typeface="Open Sans"/>
            </a:endParaRPr>
          </a:p>
          <a:p>
            <a:pPr algn="ctr">
              <a:lnSpc>
                <a:spcPts val="2000"/>
              </a:lnSpc>
            </a:pPr>
            <a:r>
              <a:rPr lang="en-US" sz="4000" dirty="0">
                <a:latin typeface="Open Sans"/>
              </a:rPr>
              <a:t>SWOT</a:t>
            </a:r>
          </a:p>
          <a:p>
            <a:pPr algn="ctr">
              <a:lnSpc>
                <a:spcPts val="2000"/>
              </a:lnSpc>
            </a:pPr>
            <a:endParaRPr lang="en-US" sz="2800" dirty="0">
              <a:latin typeface="Open Sans"/>
            </a:endParaRPr>
          </a:p>
          <a:p>
            <a:pPr algn="ctr">
              <a:lnSpc>
                <a:spcPts val="2000"/>
              </a:lnSpc>
            </a:pPr>
            <a:endParaRPr lang="en-US" sz="2800" dirty="0">
              <a:latin typeface="Open Sans"/>
            </a:endParaRPr>
          </a:p>
        </p:txBody>
      </p:sp>
      <p:sp>
        <p:nvSpPr>
          <p:cNvPr id="34" name="TextBox 23">
            <a:extLst>
              <a:ext uri="{FF2B5EF4-FFF2-40B4-BE49-F238E27FC236}">
                <a16:creationId xmlns:a16="http://schemas.microsoft.com/office/drawing/2014/main" id="{E538761B-CEB1-B969-9C1B-2CAEF06BAE0E}"/>
              </a:ext>
            </a:extLst>
          </p:cNvPr>
          <p:cNvSpPr txBox="1"/>
          <p:nvPr/>
        </p:nvSpPr>
        <p:spPr>
          <a:xfrm>
            <a:off x="1536700" y="3159380"/>
            <a:ext cx="6673246" cy="27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FATORES POSITIVOS</a:t>
            </a:r>
            <a:endParaRPr lang="en-US" sz="2800" dirty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2" name="TextBox 23">
            <a:extLst>
              <a:ext uri="{FF2B5EF4-FFF2-40B4-BE49-F238E27FC236}">
                <a16:creationId xmlns:a16="http://schemas.microsoft.com/office/drawing/2014/main" id="{F9C89CB8-6370-F76F-1268-51C8518263E5}"/>
              </a:ext>
            </a:extLst>
          </p:cNvPr>
          <p:cNvSpPr txBox="1"/>
          <p:nvPr/>
        </p:nvSpPr>
        <p:spPr>
          <a:xfrm>
            <a:off x="8110638" y="3192650"/>
            <a:ext cx="6673246" cy="27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400" dirty="0">
                <a:solidFill>
                  <a:srgbClr val="FFFFFF"/>
                </a:solidFill>
                <a:latin typeface="Open Sans"/>
              </a:rPr>
              <a:t>PR</a:t>
            </a:r>
            <a:r>
              <a:rPr lang="en-US" sz="2400" dirty="0">
                <a:latin typeface="Open Sans"/>
              </a:rPr>
              <a:t>FATORES NEGATIVOS</a:t>
            </a:r>
            <a:r>
              <a:rPr lang="en-US" sz="2400" dirty="0">
                <a:solidFill>
                  <a:srgbClr val="FFFFFF"/>
                </a:solidFill>
                <a:latin typeface="Open Sans"/>
              </a:rPr>
              <a:t>A</a:t>
            </a:r>
            <a:endParaRPr lang="en-US" sz="2800" dirty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3" name="TextBox 23">
            <a:extLst>
              <a:ext uri="{FF2B5EF4-FFF2-40B4-BE49-F238E27FC236}">
                <a16:creationId xmlns:a16="http://schemas.microsoft.com/office/drawing/2014/main" id="{47C8FB91-3620-432E-B118-4D937917EDB7}"/>
              </a:ext>
            </a:extLst>
          </p:cNvPr>
          <p:cNvSpPr txBox="1"/>
          <p:nvPr/>
        </p:nvSpPr>
        <p:spPr>
          <a:xfrm>
            <a:off x="576663" y="12469462"/>
            <a:ext cx="980196" cy="4645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endParaRPr lang="en-US" sz="2400" dirty="0">
              <a:latin typeface="Open Sans"/>
            </a:endParaRP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F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A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T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O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R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E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S</a:t>
            </a:r>
          </a:p>
          <a:p>
            <a:pPr algn="ctr">
              <a:lnSpc>
                <a:spcPts val="2000"/>
              </a:lnSpc>
            </a:pPr>
            <a:endParaRPr lang="en-US" sz="2400" dirty="0">
              <a:latin typeface="Open Sans"/>
            </a:endParaRP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E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X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T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E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R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N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O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S</a:t>
            </a:r>
          </a:p>
          <a:p>
            <a:pPr algn="ctr">
              <a:lnSpc>
                <a:spcPts val="2000"/>
              </a:lnSpc>
            </a:pPr>
            <a:endParaRPr lang="en-US" sz="2800" dirty="0">
              <a:latin typeface="Open Sans"/>
            </a:endParaRPr>
          </a:p>
        </p:txBody>
      </p:sp>
      <p:sp>
        <p:nvSpPr>
          <p:cNvPr id="54" name="TextBox 23">
            <a:extLst>
              <a:ext uri="{FF2B5EF4-FFF2-40B4-BE49-F238E27FC236}">
                <a16:creationId xmlns:a16="http://schemas.microsoft.com/office/drawing/2014/main" id="{141BE970-F211-75A0-2A36-23712C176973}"/>
              </a:ext>
            </a:extLst>
          </p:cNvPr>
          <p:cNvSpPr txBox="1"/>
          <p:nvPr/>
        </p:nvSpPr>
        <p:spPr>
          <a:xfrm>
            <a:off x="497801" y="4967905"/>
            <a:ext cx="980196" cy="4645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endParaRPr lang="en-US" sz="2400" dirty="0">
              <a:latin typeface="Open Sans"/>
            </a:endParaRP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F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A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T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O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R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E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S</a:t>
            </a:r>
          </a:p>
          <a:p>
            <a:pPr algn="ctr">
              <a:lnSpc>
                <a:spcPts val="2000"/>
              </a:lnSpc>
            </a:pPr>
            <a:endParaRPr lang="en-US" sz="2400" dirty="0">
              <a:latin typeface="Open Sans"/>
            </a:endParaRP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I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N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T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E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R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N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O</a:t>
            </a:r>
          </a:p>
          <a:p>
            <a:pPr algn="ctr">
              <a:lnSpc>
                <a:spcPts val="2000"/>
              </a:lnSpc>
            </a:pPr>
            <a:r>
              <a:rPr lang="en-US" sz="2400" dirty="0">
                <a:latin typeface="Open Sans"/>
              </a:rPr>
              <a:t>S</a:t>
            </a:r>
          </a:p>
          <a:p>
            <a:pPr algn="ctr">
              <a:lnSpc>
                <a:spcPts val="2000"/>
              </a:lnSpc>
            </a:pPr>
            <a:endParaRPr lang="en-US" sz="2800" dirty="0">
              <a:latin typeface="Open Sans"/>
            </a:endParaRP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4D068D35-FE6A-943F-8110-61959EC395E1}"/>
              </a:ext>
            </a:extLst>
          </p:cNvPr>
          <p:cNvSpPr txBox="1"/>
          <p:nvPr/>
        </p:nvSpPr>
        <p:spPr>
          <a:xfrm>
            <a:off x="1612900" y="11560431"/>
            <a:ext cx="6071166" cy="7294305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134EDC38-0C74-FF4F-2DE4-260DB8C252E8}"/>
              </a:ext>
            </a:extLst>
          </p:cNvPr>
          <p:cNvSpPr txBox="1"/>
          <p:nvPr/>
        </p:nvSpPr>
        <p:spPr>
          <a:xfrm>
            <a:off x="8318500" y="11593701"/>
            <a:ext cx="6071166" cy="7294305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B8B1E939-C745-2331-4F21-523C4659F8E2}"/>
              </a:ext>
            </a:extLst>
          </p:cNvPr>
          <p:cNvSpPr txBox="1"/>
          <p:nvPr/>
        </p:nvSpPr>
        <p:spPr>
          <a:xfrm>
            <a:off x="1612900" y="3994401"/>
            <a:ext cx="6071166" cy="7294305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9FE3BDF1-28AF-08A9-56DD-4DF69BAD6BFA}"/>
              </a:ext>
            </a:extLst>
          </p:cNvPr>
          <p:cNvSpPr txBox="1"/>
          <p:nvPr/>
        </p:nvSpPr>
        <p:spPr>
          <a:xfrm>
            <a:off x="8318500" y="3982264"/>
            <a:ext cx="6071166" cy="7294305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09F9B6B-0BE9-D0CB-837A-A2F3D78A85F8}"/>
              </a:ext>
            </a:extLst>
          </p:cNvPr>
          <p:cNvSpPr txBox="1"/>
          <p:nvPr/>
        </p:nvSpPr>
        <p:spPr>
          <a:xfrm>
            <a:off x="1775310" y="4377848"/>
            <a:ext cx="578119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Baixo custo potencial em comparação com soluções comerciais.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Utilização de </a:t>
            </a:r>
            <a:r>
              <a:rPr lang="pt-BR" dirty="0" err="1"/>
              <a:t>Raspberry</a:t>
            </a:r>
            <a:r>
              <a:rPr lang="pt-BR" dirty="0"/>
              <a:t> Pi como plataforma de baixo custo.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Processamento local dos dados biométricos.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Autenticação por impressão digital.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Criptografia dos dados biométricos.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Arquitetura modular e escalável.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Interface web para gestão.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Geração de relatórios digitais.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Customização para instituições de ensino.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Arquitetura baseada em princípios de privacidade.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Possibilidade de integração com sistemas educacionais.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Registro e auditoria das operações.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5AE24C6-C9F9-2073-8E8E-30187877BD35}"/>
              </a:ext>
            </a:extLst>
          </p:cNvPr>
          <p:cNvSpPr txBox="1"/>
          <p:nvPr/>
        </p:nvSpPr>
        <p:spPr>
          <a:xfrm>
            <a:off x="8470900" y="4309590"/>
            <a:ext cx="569265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Projeto ainda depende da validação do protótipo.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Dependência de componentes eletrônicos específicos.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Necessidade de manutenção do hardware.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Necessidade de cadastro biométrico dos docentes.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Necessidade de treinamento dos usuários.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Dependência da qualidade do sensor biométrico.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Necessidade de testes de desempenho e confiabilidade.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Necessidade de comprovar as metas de reconhecimento biométrico.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Capacidade inicial limitada ao ambiente de prototipagem.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Modelo comercial ainda não definido.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Necessidade de atualização e manutenção contínua do software.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57DC96B-A736-3A2F-7019-4D7A93A57521}"/>
              </a:ext>
            </a:extLst>
          </p:cNvPr>
          <p:cNvSpPr txBox="1"/>
          <p:nvPr/>
        </p:nvSpPr>
        <p:spPr>
          <a:xfrm>
            <a:off x="1765825" y="11824533"/>
            <a:ext cx="579067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Mais de 2.600 instituições de ensino superior no Brasil.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Crescente digitalização dos processos administrativos.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Substituição de métodos manuais de controle de frequência.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Demanda por soluções de menor custo.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Possibilidade de integração com sistemas de gestão educacional.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Possibilidade de expansão para outras instituições.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Possibilidade de criação de startup.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Possibilidade de registro do software no INPI.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Produção de artigos científicos.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Participação em eventos de inovação.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Possibilidade de parcerias com instituições e empresas.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Desenvolvimento de uma solução replicável para outras instituições.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2FFD5D4-B7C3-240C-66A3-1F09C77AD082}"/>
              </a:ext>
            </a:extLst>
          </p:cNvPr>
          <p:cNvSpPr txBox="1"/>
          <p:nvPr/>
        </p:nvSpPr>
        <p:spPr>
          <a:xfrm>
            <a:off x="8470900" y="11905655"/>
            <a:ext cx="569265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Concorrência com sistemas comerciais de controle de ponto.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Evolução e obsolescência dos componentes eletrônicos.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Falhas de energia durante o registro.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Problemas de conectividade ou infraestrutura de rede.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Possíveis falhas na leitura biométrica.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Resistência dos usuários à adoção da nova tecnologia.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Alterações nas exigências legais e regulatórias.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Riscos relacionados à segurança dos dados biométricos.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Custos futuros de manutenção e substituição de equipamentos.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Dificuldade de implantação em diferentes ambientes institucionais.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7290</TotalTime>
  <Words>1020</Words>
  <Application>Microsoft Office PowerPoint</Application>
  <PresentationFormat>Personalizar</PresentationFormat>
  <Paragraphs>348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Open Sans</vt:lpstr>
      <vt:lpstr>Arial</vt:lpstr>
      <vt:lpstr>Open Sans Bold</vt:lpstr>
      <vt:lpstr>Open Sans Light</vt:lpstr>
      <vt:lpstr>Calibri</vt:lpstr>
      <vt:lpstr>Office Theme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e-poster CONAN</dc:title>
  <dc:creator>UFOP</dc:creator>
  <cp:lastModifiedBy>Ismailer Gregório Gomes Junior</cp:lastModifiedBy>
  <cp:revision>33</cp:revision>
  <cp:lastPrinted>2023-01-31T14:28:51Z</cp:lastPrinted>
  <dcterms:created xsi:type="dcterms:W3CDTF">2006-08-16T00:00:00Z</dcterms:created>
  <dcterms:modified xsi:type="dcterms:W3CDTF">2026-09-20T15:32:16Z</dcterms:modified>
  <dc:identifier>DAEfTisAFbo</dc:identifier>
</cp:coreProperties>
</file>